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6" r:id="rId1"/>
  </p:sldMasterIdLst>
  <p:notesMasterIdLst>
    <p:notesMasterId r:id="rId26"/>
  </p:notesMasterIdLst>
  <p:sldIdLst>
    <p:sldId id="257" r:id="rId2"/>
    <p:sldId id="350" r:id="rId3"/>
    <p:sldId id="365" r:id="rId4"/>
    <p:sldId id="378" r:id="rId5"/>
    <p:sldId id="353" r:id="rId6"/>
    <p:sldId id="381" r:id="rId7"/>
    <p:sldId id="383" r:id="rId8"/>
    <p:sldId id="369" r:id="rId9"/>
    <p:sldId id="371" r:id="rId10"/>
    <p:sldId id="358" r:id="rId11"/>
    <p:sldId id="377" r:id="rId12"/>
    <p:sldId id="306" r:id="rId13"/>
    <p:sldId id="344" r:id="rId14"/>
    <p:sldId id="379" r:id="rId15"/>
    <p:sldId id="380" r:id="rId16"/>
    <p:sldId id="376" r:id="rId17"/>
    <p:sldId id="388" r:id="rId18"/>
    <p:sldId id="390" r:id="rId19"/>
    <p:sldId id="389" r:id="rId20"/>
    <p:sldId id="384" r:id="rId21"/>
    <p:sldId id="391" r:id="rId22"/>
    <p:sldId id="387" r:id="rId23"/>
    <p:sldId id="334" r:id="rId24"/>
    <p:sldId id="36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66" autoAdjust="0"/>
    <p:restoredTop sz="94660"/>
  </p:normalViewPr>
  <p:slideViewPr>
    <p:cSldViewPr snapToGrid="0">
      <p:cViewPr varScale="1">
        <p:scale>
          <a:sx n="78" d="100"/>
          <a:sy n="78" d="100"/>
        </p:scale>
        <p:origin x="5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E8E70C-7F07-4A7B-B8A4-DE2E8B379196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C72F8-3CCC-4F08-A7B7-73F2558E1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10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8C72F8-3CCC-4F08-A7B7-73F2558E111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5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D90F2-B46E-4D1E-9F60-8238540A45AF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12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5397-F42E-46FA-B8D3-8CB31BB561C0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71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A9C9F-CBD8-409F-B31A-0BCF63B15DCC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90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2B3B8-1389-4442-93EB-C354E7CA6688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89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888A-FE4F-4F82-9B42-580C9342E0A5}" type="datetime1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51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C7C8-F72D-4634-923A-3E35108D700A}" type="datetime1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98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80D7-EFDF-4B0E-98D2-318EA7BF2B02}" type="datetime1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1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995490-D925-4F4C-970D-398469BC9BBF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750-0B92-48CE-94FC-F5A91F11BF9E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79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B090C-CC41-44E0-9CF7-349BCAE68B58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61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83D1-6D0F-4AD1-B52D-0E5FA4D57BA0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1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7DCBD0-3DB9-41C4-B24E-88F1DA06432D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C2D89ED-A36A-4F48-AEDF-BC970FA37ED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240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476453-4A3C-1FFC-D0C6-2600E1E25F46}"/>
              </a:ext>
            </a:extLst>
          </p:cNvPr>
          <p:cNvSpPr/>
          <p:nvPr/>
        </p:nvSpPr>
        <p:spPr>
          <a:xfrm>
            <a:off x="5775298" y="2372139"/>
            <a:ext cx="5336650" cy="319377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F29F28-E2A0-6E60-FB9D-E1D7C79F76F0}"/>
              </a:ext>
            </a:extLst>
          </p:cNvPr>
          <p:cNvSpPr/>
          <p:nvPr/>
        </p:nvSpPr>
        <p:spPr>
          <a:xfrm>
            <a:off x="1196009" y="2153479"/>
            <a:ext cx="3243470" cy="3631095"/>
          </a:xfrm>
          <a:prstGeom prst="roundRect">
            <a:avLst>
              <a:gd name="adj" fmla="val 18097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504" y="137160"/>
            <a:ext cx="10749897" cy="158496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Interpretability of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LLm’s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 using </a:t>
            </a:r>
            <a:b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</a:b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Route Sparse Autoencoders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9139" y="3380959"/>
            <a:ext cx="3177209" cy="108336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: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K. Hima Bindu</a:t>
            </a:r>
          </a:p>
          <a:p>
            <a:pPr marL="0" indent="0">
              <a:buNone/>
            </a:pPr>
            <a:r>
              <a:rPr lang="en-US" sz="2400" dirty="0"/>
              <a:t>         </a:t>
            </a:r>
            <a:endParaRPr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9A068-2B89-DAA9-D8C5-E766159A2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64759"/>
            <a:ext cx="2743200" cy="365125"/>
          </a:xfrm>
        </p:spPr>
        <p:txBody>
          <a:bodyPr/>
          <a:lstStyle/>
          <a:p>
            <a:fld id="{9C2D89ED-A36A-4F48-AEDF-BC970FA37EDB}" type="slidenum">
              <a:rPr lang="en-IN" smtClean="0"/>
              <a:t>1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780CC-88EF-6609-3827-559ED5C491B7}"/>
              </a:ext>
            </a:extLst>
          </p:cNvPr>
          <p:cNvSpPr txBox="1"/>
          <p:nvPr/>
        </p:nvSpPr>
        <p:spPr>
          <a:xfrm>
            <a:off x="6013836" y="2583813"/>
            <a:ext cx="48595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3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422126 –  Chappidi Pavitra Subhasri </a:t>
            </a:r>
          </a:p>
          <a:p>
            <a:pPr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422231 –  Paivula KrishnaPriya</a:t>
            </a:r>
          </a:p>
          <a:p>
            <a:pPr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422161 –  Jitendra Pachar</a:t>
            </a:r>
          </a:p>
          <a:p>
            <a:pPr algn="just"/>
            <a:r>
              <a:rPr lang="en-IN" sz="2400" dirty="0"/>
              <a:t>  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D92E-4553-4FB4-6CE8-FE17D455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Abstract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CCF30-7B59-0C93-10E0-68BD6FF7D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Mechanistic interpretability aims to understand </a:t>
            </a:r>
            <a:r>
              <a:rPr lang="en-US" alt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language models (LLMs) process and represent information internally.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Autoencoders (SAEs)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proven effective for extracting </a:t>
            </a:r>
            <a:r>
              <a:rPr lang="en-US" alt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and </a:t>
            </a:r>
            <a:r>
              <a:rPr lang="en-US" altLang="en-US" sz="2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monosemantic</a:t>
            </a:r>
            <a:r>
              <a:rPr lang="en-US" alt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model activations.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conventional SAEs operate on </a:t>
            </a:r>
            <a:r>
              <a:rPr lang="en-US" alt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layer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missing cross-layer dependencies.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Sparse Autoencoder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RouteSAE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mechanism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SAE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efficient, multi-layer feature extraction with higher interpretability and minimal parameter overhead.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FA012-2509-B78C-3BCF-1891959B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16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E4E6-2DCC-6965-D715-9475C04C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7600D3E-CAA4-267D-800D-891569C88F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918458"/>
            <a:ext cx="9885015" cy="4037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Traditional sparse autoencoders (SAEs) only work on one layer at a time.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Because of this, they can extract features </a:t>
            </a:r>
            <a:r>
              <a:rPr lang="en-US" b="1" dirty="0"/>
              <a:t>only from that specific </a:t>
            </a:r>
            <a:r>
              <a:rPr lang="en-US" b="1" dirty="0" err="1"/>
              <a:t>layer</a:t>
            </a:r>
            <a:r>
              <a:rPr lang="en-US" dirty="0" err="1"/>
              <a:t>.However</a:t>
            </a:r>
            <a:r>
              <a:rPr lang="en-US" dirty="0"/>
              <a:t>, in modern large language models, many important features appear </a:t>
            </a:r>
            <a:r>
              <a:rPr lang="en-US" b="1" dirty="0"/>
              <a:t>across multiple layers</a:t>
            </a:r>
            <a:r>
              <a:rPr lang="en-US" dirty="0"/>
              <a:t>, not just one.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Single-layer SAEs cannot detect these cross-layer patterns, so they miss many meaningful features.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As a result, existing SAEs are not enough for full interpretability or for controlling model behavior.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We need a new SAE design that can learn </a:t>
            </a:r>
            <a:r>
              <a:rPr lang="en-US" b="1" dirty="0"/>
              <a:t>multi-layer features</a:t>
            </a:r>
            <a:r>
              <a:rPr lang="en-US" dirty="0"/>
              <a:t> while still staying sparse and interpretable.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Such a model would allow better understanding of how the network thinks and give more accurate ways to steer its activations.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6E742-38BE-650D-2D43-56F8AC9EC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51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9FF2-7F90-E6C8-C01F-102E92922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1AA2786-FAE9-7BE2-4136-36DAEE2C1D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420789"/>
            <a:ext cx="8931286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create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framework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can combine activations from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layers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/>
              <a:t>To validate that the </a:t>
            </a:r>
            <a:r>
              <a:rPr lang="en-US" b="1" dirty="0" err="1"/>
              <a:t>RouteSAE</a:t>
            </a:r>
            <a:r>
              <a:rPr lang="en-US" b="1" dirty="0"/>
              <a:t> training objective converges correctly</a:t>
            </a:r>
            <a:r>
              <a:rPr lang="en-US" dirty="0"/>
              <a:t> and produces </a:t>
            </a:r>
            <a:r>
              <a:rPr lang="en-US" b="1" dirty="0"/>
              <a:t>high-quality, </a:t>
            </a:r>
            <a:r>
              <a:rPr lang="en-US" b="1" dirty="0" err="1"/>
              <a:t>monosemantic</a:t>
            </a:r>
            <a:r>
              <a:rPr lang="en-US" b="1" dirty="0"/>
              <a:t> features</a:t>
            </a:r>
            <a:r>
              <a:rPr lang="en-US" dirty="0"/>
              <a:t> even with limited data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must enable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single-layer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method should avoid adding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model complexity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increasing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cost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allows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model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EEC5F-5770-46BB-6E6E-27126190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00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5BB64-7970-F998-AB37-23367224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is a Sparse Autoencoder   (SAE)?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2496A-91A3-D5A8-4A3D-6ED2959BF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079" y="1630680"/>
            <a:ext cx="10626601" cy="4663440"/>
          </a:xfrm>
        </p:spPr>
        <p:txBody>
          <a:bodyPr>
            <a:normAutofit fontScale="3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5600" b="1" dirty="0"/>
              <a:t> </a:t>
            </a:r>
            <a:r>
              <a:rPr lang="en-US" sz="7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of an SAE</a:t>
            </a:r>
          </a:p>
          <a:p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ecompose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dense LLM activations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features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dense activation vector x (polysemantic, hard to interpret) into a sparse feature vector z.</a:t>
            </a:r>
          </a:p>
          <a:p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active feature ideally represents </a:t>
            </a:r>
            <a:r>
              <a:rPr lang="en-US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meaningful concept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6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monosemanticity</a:t>
            </a:r>
            <a:r>
              <a:rPr lang="en-US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7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High Dimensionality (M &gt;&gt; d)?</a:t>
            </a:r>
          </a:p>
          <a:p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activation </a:t>
            </a: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6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polysemantic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dimension mixes many concepts.</a:t>
            </a:r>
          </a:p>
          <a:p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thresholding cannot separate mixed concepts → information loss.</a:t>
            </a:r>
          </a:p>
          <a:p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SAEs create an </a:t>
            </a:r>
            <a:r>
              <a:rPr lang="en-U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overcomplete feature space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(more features than original dimensions ---- M &gt;&gt; d).</a:t>
            </a:r>
          </a:p>
          <a:p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 allows dedicated neurons for specific concepts (e.g., “Red”, “Green”, “Past tense”, “Negation”).</a:t>
            </a:r>
            <a:endParaRPr lang="en-IN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729B5-C7CD-4FBC-16C7-F0BC73DC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01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1A7A-CD74-B08D-6D6F-43273033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Vanilla SAE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A4539-9B94-74E7-F43E-681B74A5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6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6E0D7A9-2245-BD26-834E-36B24C67D91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27150" y="3584714"/>
            <a:ext cx="499872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Centers the activation: removes the bias term b pre.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Projects the activation into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feature space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a nonlinearity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sparse, interpretable feature vector z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E1D6AC-3822-07DE-4B86-083814B01073}"/>
                  </a:ext>
                </a:extLst>
              </p:cNvPr>
              <p:cNvSpPr txBox="1"/>
              <p:nvPr/>
            </p:nvSpPr>
            <p:spPr>
              <a:xfrm>
                <a:off x="1314447" y="2654519"/>
                <a:ext cx="4320546" cy="50687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1" i="1" dirty="0" smtClean="0">
                          <a:latin typeface="Cambria Math" panose="02040503050406030204" pitchFamily="18" charset="0"/>
                        </a:rPr>
                        <m:t>ReLu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1" i="0" dirty="0">
                                  <a:latin typeface="Cambria Math" panose="02040503050406030204" pitchFamily="18" charset="0"/>
                                </a:rPr>
                                <m:t>𝐞𝐧𝐜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𝐛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b="1" i="0" dirty="0">
                                      <a:latin typeface="Cambria Math" panose="02040503050406030204" pitchFamily="18" charset="0"/>
                                    </a:rPr>
                                    <m:t>𝐩𝐫𝐞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8E1D6AC-3822-07DE-4B86-083814B01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47" y="2654519"/>
                <a:ext cx="4320546" cy="5068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3">
            <a:extLst>
              <a:ext uri="{FF2B5EF4-FFF2-40B4-BE49-F238E27FC236}">
                <a16:creationId xmlns:a16="http://schemas.microsoft.com/office/drawing/2014/main" id="{F10CB6D2-905C-A627-4D7C-D4E5F1EF766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113762" y="3584714"/>
            <a:ext cx="4587243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Reconstructs the original activation 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the sparse features in z capture the meaning of 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good reconstruction and verifies interpretability.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4F29B0-C0B9-5331-673B-DF62FFC070F8}"/>
                  </a:ext>
                </a:extLst>
              </p:cNvPr>
              <p:cNvSpPr txBox="1"/>
              <p:nvPr/>
            </p:nvSpPr>
            <p:spPr>
              <a:xfrm>
                <a:off x="7113762" y="2654519"/>
                <a:ext cx="3496589" cy="40639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1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𝐝𝐞𝐜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𝐩𝐫𝐞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4F29B0-C0B9-5331-673B-DF62FFC07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762" y="2654519"/>
                <a:ext cx="3496589" cy="406393"/>
              </a:xfrm>
              <a:prstGeom prst="rect">
                <a:avLst/>
              </a:prstGeom>
              <a:blipFill>
                <a:blip r:embed="rId3"/>
                <a:stretch>
                  <a:fillRect t="-2899" b="-869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6F4B5DE-DF97-1744-C0B8-625F4E2BC924}"/>
              </a:ext>
            </a:extLst>
          </p:cNvPr>
          <p:cNvSpPr txBox="1"/>
          <p:nvPr/>
        </p:nvSpPr>
        <p:spPr>
          <a:xfrm>
            <a:off x="2499359" y="1889975"/>
            <a:ext cx="2727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48807-0682-7C0C-9D64-AA67CE5C475B}"/>
              </a:ext>
            </a:extLst>
          </p:cNvPr>
          <p:cNvSpPr txBox="1"/>
          <p:nvPr/>
        </p:nvSpPr>
        <p:spPr>
          <a:xfrm>
            <a:off x="7934076" y="1920753"/>
            <a:ext cx="48768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8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EAE4-4518-357F-EC91-1C4B16A9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Model Architecture of Vanilla SAE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4EA9E-2E9D-74F9-5BBD-549475F22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Learning Objective</a:t>
                </a:r>
              </a:p>
              <a:p>
                <a:r>
                  <a:rPr lang="en-IN" b="1" dirty="0"/>
                  <a:t>Minimize a loss composed of two parts:</a:t>
                </a:r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1. Reconstruction Loss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=∥</m:t>
                    </m:r>
                    <m:r>
                      <m:rPr>
                        <m:nor/>
                      </m:rPr>
                      <a:rPr lang="en-IN" i="1"/>
                      <m:t>  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nor/>
                      </m:rPr>
                      <a:rPr lang="ar-AE" i="1"/>
                      <m:t>  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b="0" dirty="0"/>
              </a:p>
              <a:p>
                <a:r>
                  <a:rPr lang="en-IN" dirty="0"/>
                  <a:t>Encourages the model to accurately reconstruct the original activation.</a:t>
                </a:r>
              </a:p>
              <a:p>
                <a:r>
                  <a:rPr lang="en-IN" dirty="0"/>
                  <a:t>Ensures the learned features preserve important information.</a:t>
                </a:r>
              </a:p>
              <a:p>
                <a:r>
                  <a:rPr lang="en-IN" b="1" dirty="0"/>
                  <a:t>2. Sparsity Loss (L1)</a:t>
                </a:r>
              </a:p>
              <a:p>
                <a:r>
                  <a:rPr lang="en-IN" dirty="0"/>
                  <a:t>Penalizes non-zero entries in </a:t>
                </a:r>
                <a:r>
                  <a:rPr lang="en-IN" b="1" dirty="0"/>
                  <a:t>z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Used in early SAEs to enforce sparsity in the feature vector.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E4EA9E-2E9D-74F9-5BBD-549475F22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9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108D0-88F5-349E-25F2-0F3F9E9EC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6F9D5-75B5-FF4C-A263-B4D9D7F89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162" y="2103228"/>
            <a:ext cx="3350034" cy="376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16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2FF-ADF5-4630-92B7-4BA96EE16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Topk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SAE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633E5-B1D7-5BCD-DAB8-977664733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IN" sz="2400" dirty="0">
                <a:solidFill>
                  <a:schemeClr val="accent1"/>
                </a:solidFill>
              </a:rPr>
              <a:t>Problem with Vanilla SAE(Feature Shrinkage)</a:t>
            </a:r>
          </a:p>
          <a:p>
            <a:r>
              <a:rPr lang="en-US" dirty="0"/>
              <a:t>L1 penalty + </a:t>
            </a:r>
            <a:r>
              <a:rPr lang="en-US" dirty="0" err="1"/>
              <a:t>ReLU</a:t>
            </a:r>
            <a:r>
              <a:rPr lang="en-US" dirty="0"/>
              <a:t> pushes useful feature activations </a:t>
            </a:r>
            <a:r>
              <a:rPr lang="en-US" b="1" dirty="0"/>
              <a:t>toward zero</a:t>
            </a:r>
            <a:r>
              <a:rPr lang="en-US" dirty="0"/>
              <a:t>.</a:t>
            </a:r>
          </a:p>
          <a:p>
            <a:r>
              <a:rPr lang="en-US" dirty="0"/>
              <a:t>Results in </a:t>
            </a:r>
            <a:r>
              <a:rPr lang="en-US" b="1" dirty="0"/>
              <a:t>poor reconstruction</a:t>
            </a:r>
            <a:r>
              <a:rPr lang="en-US" dirty="0"/>
              <a:t> and </a:t>
            </a:r>
            <a:r>
              <a:rPr lang="en-US" b="1" dirty="0"/>
              <a:t>weak interpretability</a:t>
            </a:r>
            <a:r>
              <a:rPr lang="en-US" dirty="0"/>
              <a:t>.</a:t>
            </a: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TopK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SAE</a:t>
            </a:r>
          </a:p>
          <a:p>
            <a:r>
              <a:rPr lang="en-US" dirty="0"/>
              <a:t>Replace </a:t>
            </a:r>
            <a:r>
              <a:rPr lang="en-US" b="1" dirty="0" err="1"/>
              <a:t>ReLU</a:t>
            </a:r>
            <a:r>
              <a:rPr lang="en-US" b="1" dirty="0"/>
              <a:t> + L1</a:t>
            </a:r>
            <a:r>
              <a:rPr lang="en-US" dirty="0"/>
              <a:t> with:</a:t>
            </a:r>
          </a:p>
          <a:p>
            <a:r>
              <a:rPr lang="en-US" dirty="0"/>
              <a:t>→ keeps only the </a:t>
            </a:r>
            <a:r>
              <a:rPr lang="en-US" b="1" dirty="0"/>
              <a:t>K strongest features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Exact control of sparsity.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Selected features retain strong activation values (no shrinkage).</a:t>
            </a:r>
          </a:p>
          <a:p>
            <a:r>
              <a:rPr lang="en-US" dirty="0"/>
              <a:t>Much better reconstruction + </a:t>
            </a:r>
            <a:r>
              <a:rPr lang="en-US" dirty="0" err="1"/>
              <a:t>monosemanticity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D03E8-47E5-3E11-FCE7-D681F07C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8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FBD6BE-3EC9-A651-B140-895E40C93EF8}"/>
                  </a:ext>
                </a:extLst>
              </p:cNvPr>
              <p:cNvSpPr txBox="1"/>
              <p:nvPr/>
            </p:nvSpPr>
            <p:spPr>
              <a:xfrm>
                <a:off x="7322940" y="3425687"/>
                <a:ext cx="3233530" cy="55297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>
                          <a:latin typeface="Cambria Math" panose="02040503050406030204" pitchFamily="18" charset="0"/>
                        </a:rPr>
                        <m:t>TopK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𝑒𝑛𝑐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𝑝𝑟𝑒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FBD6BE-3EC9-A651-B140-895E40C93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940" y="3425687"/>
                <a:ext cx="3233530" cy="552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85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7A67-8407-DC6E-F4CD-C4268B04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RouteSAE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The Limitation of Single-Layer SAE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6062-398D-EAC2-C27F-6F71829F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SAEs (including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TopK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SAE) are trained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layer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capture either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low-level features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(early layers) 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features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(deep layers), but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both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LLM concepts appear at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layers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single-layer methods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 many features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method that can learn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features efficiently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maintaining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shared interpretability space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RouteSAE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solves this using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 + one shared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TopK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10FB-740E-CAD6-6D3E-852EAD7E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86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37E8-D608-F3AC-DFEE-980A7D15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10260361" cy="104923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Route Sparse Autoencoder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FF575-0D8D-F4B9-3432-94FFC86C8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</a:pPr>
            <a:r>
              <a:rPr lang="en-US" sz="2200" dirty="0"/>
              <a:t>To address these limitations, </a:t>
            </a:r>
            <a:r>
              <a:rPr lang="en-US" sz="2200" dirty="0" err="1"/>
              <a:t>RouteSAE</a:t>
            </a:r>
            <a:r>
              <a:rPr lang="en-US" sz="2200" dirty="0"/>
              <a:t> is proposed with the key aims of overcoming the single-layer constraint of standard SAEs, improving feature interpretability and </a:t>
            </a:r>
            <a:r>
              <a:rPr lang="en-US" sz="2200" dirty="0" err="1"/>
              <a:t>monosemanticity</a:t>
            </a:r>
            <a:r>
              <a:rPr lang="en-US" sz="2200" dirty="0"/>
              <a:t>, and ensuring a scalable and efficient architecture for large language models.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</a:pPr>
            <a:r>
              <a:rPr lang="en-US" sz="2200" dirty="0"/>
              <a:t>This is achieved through a novel design featuring a router module combined with a shared SAE.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</a:pPr>
            <a:r>
              <a:rPr lang="en-US" sz="2200" dirty="0"/>
              <a:t>The router dynamically assigns importance weights to activations across different layers, while a shared </a:t>
            </a:r>
            <a:r>
              <a:rPr lang="en-US" sz="2200" dirty="0" err="1"/>
              <a:t>TopK</a:t>
            </a:r>
            <a:r>
              <a:rPr lang="en-US" sz="2200" dirty="0"/>
              <a:t> SAE functions as a unified encoder-decoder to create sparse representations.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q"/>
            </a:pPr>
            <a:r>
              <a:rPr lang="en-US" sz="2200" dirty="0"/>
              <a:t>This integrated approach enables </a:t>
            </a:r>
            <a:r>
              <a:rPr lang="en-US" sz="2200" dirty="0" err="1"/>
              <a:t>RouteSAE</a:t>
            </a:r>
            <a:r>
              <a:rPr lang="en-US" sz="2200" dirty="0"/>
              <a:t> to effectively learn multi-layer, interpretable features while rigorously maintaining computational efficiency.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E22A1-081F-71D3-27B5-B2F05F98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6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38FB-EC9F-18F3-00C4-B738EC6B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MODEL ARCHITECTURE OF ROUTE SAE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2B393-C07C-4983-E442-90798B9ED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5039" y="2007054"/>
            <a:ext cx="3056427" cy="248206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7EFD1-4703-28EE-F8C0-69FC295B3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11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F34869-0DF6-319B-DFB0-781065A548BB}"/>
              </a:ext>
            </a:extLst>
          </p:cNvPr>
          <p:cNvSpPr txBox="1">
            <a:spLocks/>
          </p:cNvSpPr>
          <p:nvPr/>
        </p:nvSpPr>
        <p:spPr>
          <a:xfrm>
            <a:off x="1752600" y="4758813"/>
            <a:ext cx="10314633" cy="82591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>
                <a:solidFill>
                  <a:schemeClr val="accent1"/>
                </a:solidFill>
              </a:rPr>
              <a:t>Figure 1</a:t>
            </a:r>
            <a:r>
              <a:rPr lang="en-US" dirty="0">
                <a:solidFill>
                  <a:schemeClr val="accent1"/>
                </a:solidFill>
              </a:rPr>
              <a:t>: MODEL ARCHITECTURE OF ROUTE SPARSE AUTOENCODER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A6D807-ECA1-8D45-024C-C30D98202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272" y="1936955"/>
            <a:ext cx="2900588" cy="261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02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9F61-4C0E-FE89-B827-BDC9CA0D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Router Collects Information (Sum-Pooling)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D22092C-24A5-EB28-E98A-C618B73F5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The weights of LLM are frozen so that it doesn’t get effected by backpropagation due to reconstruction loss.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Router takes activations from </a:t>
            </a:r>
            <a:r>
              <a:rPr lang="en-IN" b="1" dirty="0"/>
              <a:t>L layers</a:t>
            </a:r>
            <a:r>
              <a:rPr lang="en-IN" dirty="0"/>
              <a:t>:</a:t>
            </a:r>
            <a:br>
              <a:rPr lang="en-IN" dirty="0"/>
            </a:br>
            <a:r>
              <a:rPr lang="en-IN" b="1" dirty="0"/>
              <a:t>x₀, x₁, …, xₗ₋₁</a:t>
            </a:r>
            <a:r>
              <a:rPr lang="en-IN" dirty="0"/>
              <a:t>, each ∈ ℝᵈ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Naive approach: concatenating all layers ⇒ </a:t>
            </a:r>
            <a:r>
              <a:rPr lang="en-IN" b="1" dirty="0"/>
              <a:t>very large input (L × d)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Smart approach: </a:t>
            </a:r>
            <a:r>
              <a:rPr lang="en-IN" b="1" dirty="0"/>
              <a:t>Sum Pooling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Compute a summary vector:</a:t>
            </a:r>
            <a:br>
              <a:rPr lang="en-IN" dirty="0"/>
            </a:b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IN" i="1" dirty="0">
              <a:latin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i="1" dirty="0">
              <a:latin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This reduces all layers into one compact representation.</a:t>
            </a:r>
            <a:br>
              <a:rPr lang="en-IN" dirty="0"/>
            </a:br>
            <a:r>
              <a:rPr lang="en-IN" dirty="0"/>
              <a:t>The summary vector </a:t>
            </a:r>
            <a:r>
              <a:rPr lang="en-IN" b="1" dirty="0"/>
              <a:t>v</a:t>
            </a:r>
            <a:r>
              <a:rPr lang="en-IN" dirty="0"/>
              <a:t> represents global activity across all layers.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6209B-5B88-8CFD-47FE-F2932AE6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12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6C0B0-A47B-09CF-AD45-45A7AC278DD9}"/>
                  </a:ext>
                </a:extLst>
              </p:cNvPr>
              <p:cNvSpPr txBox="1"/>
              <p:nvPr/>
            </p:nvSpPr>
            <p:spPr>
              <a:xfrm>
                <a:off x="1548516" y="4018328"/>
                <a:ext cx="3209014" cy="87145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IN" i="1" dirty="0" err="1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</m:e>
                      </m:nary>
                      <m:r>
                        <a:rPr lang="en-IN" i="1" dirty="0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IN" i="1" dirty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6C0B0-A47B-09CF-AD45-45A7AC278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516" y="4018328"/>
                <a:ext cx="3209014" cy="871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653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88073-AE27-8542-AF46-39165C65F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1D17-4650-F6F0-5B54-5FEAB73B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Router Finds the Most Important Layer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95A40EF5-CDBC-25A9-4098-B50C02669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0560" y="1737360"/>
                <a:ext cx="8473440" cy="4082626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A </a:t>
                </a:r>
                <a:r>
                  <a:rPr lang="en-IN" b="1" dirty="0"/>
                  <a:t>learnable weight matrix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nor/>
                          </m:rPr>
                          <a:rPr lang="en-IN" i="1"/>
                          <m:t>router</m:t>
                        </m:r>
                      </m:sub>
                    </m:sSub>
                  </m:oMath>
                </a14:m>
                <a:r>
                  <a:rPr lang="en-IN" dirty="0"/>
                  <a:t>maps this summary vector to </a:t>
                </a:r>
                <a:r>
                  <a:rPr lang="en-IN" i="1" dirty="0"/>
                  <a:t>layer relevance scores</a:t>
                </a:r>
                <a:r>
                  <a:rPr lang="en-IN" dirty="0"/>
                  <a:t>:</a:t>
                </a:r>
              </a:p>
              <a:p>
                <a:pPr marL="0" indent="0">
                  <a:buNone/>
                </a:pPr>
                <a:r>
                  <a:rPr lang="en-IN" dirty="0"/>
                  <a:t>Each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corresponds to </a:t>
                </a:r>
                <a:r>
                  <a:rPr lang="en-IN" b="1" dirty="0"/>
                  <a:t>how much the router thinks layer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/>
                  <a:t>is relevant for the current input.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b="1" dirty="0" err="1"/>
                  <a:t>Softmax</a:t>
                </a:r>
                <a:r>
                  <a:rPr lang="en-IN" b="1" dirty="0"/>
                  <a:t> — Normalized Layer Probabilities</a:t>
                </a:r>
              </a:p>
              <a:p>
                <a:pPr marL="0" indent="0">
                  <a:buNone/>
                </a:pPr>
                <a:r>
                  <a:rPr lang="en-IN" dirty="0"/>
                  <a:t>To turn these scores into a </a:t>
                </a:r>
                <a:r>
                  <a:rPr lang="en-IN" b="1" dirty="0"/>
                  <a:t>probability distribution</a:t>
                </a:r>
                <a:r>
                  <a:rPr lang="en-IN" dirty="0"/>
                  <a:t> over layers:</a:t>
                </a:r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  <a:r>
                  <a:rPr lang="en-IN" dirty="0"/>
                  <a:t>Now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, </a:t>
                </a:r>
                <a:r>
                  <a:rPr lang="en-IN" dirty="0"/>
                  <a:t>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Interpretation: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≈ </a:t>
                </a:r>
                <a:r>
                  <a:rPr lang="ar-AE" i="1" dirty="0"/>
                  <a:t>“</a:t>
                </a:r>
                <a:r>
                  <a:rPr lang="en-IN" i="1" dirty="0"/>
                  <a:t>how much attention to pay to layer </a:t>
                </a:r>
                <a:r>
                  <a:rPr lang="en-IN" i="1" dirty="0" err="1"/>
                  <a:t>i</a:t>
                </a:r>
                <a:r>
                  <a:rPr lang="en-IN" i="1" dirty="0"/>
                  <a:t>”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Similar to attention weights in Transformers.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IN" dirty="0"/>
              </a:p>
            </p:txBody>
          </p:sp>
        </mc:Choice>
        <mc:Fallback xmlns="">
          <p:sp>
            <p:nvSpPr>
              <p:cNvPr id="19" name="Content Placeholder 18">
                <a:extLst>
                  <a:ext uri="{FF2B5EF4-FFF2-40B4-BE49-F238E27FC236}">
                    <a16:creationId xmlns:a16="http://schemas.microsoft.com/office/drawing/2014/main" id="{95A40EF5-CDBC-25A9-4098-B50C02669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0560" y="1737360"/>
                <a:ext cx="8473440" cy="4082626"/>
              </a:xfrm>
              <a:blipFill>
                <a:blip r:embed="rId2"/>
                <a:stretch>
                  <a:fillRect l="-1799" t="-2090" r="-12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F188-4120-EE1D-D0DA-E889F5D3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CECB4F-655E-B90E-473B-4B5A5DF7CAD3}"/>
                  </a:ext>
                </a:extLst>
              </p:cNvPr>
              <p:cNvSpPr txBox="1"/>
              <p:nvPr/>
            </p:nvSpPr>
            <p:spPr>
              <a:xfrm>
                <a:off x="8963199" y="1814020"/>
                <a:ext cx="2078182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1"/>
                            <m:t>router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ar-AE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CECB4F-655E-B90E-473B-4B5A5DF7C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99" y="1814020"/>
                <a:ext cx="2078182" cy="369332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5E2927-8D6C-0591-0834-9B9330EB8251}"/>
                  </a:ext>
                </a:extLst>
              </p:cNvPr>
              <p:cNvSpPr txBox="1"/>
              <p:nvPr/>
            </p:nvSpPr>
            <p:spPr>
              <a:xfrm>
                <a:off x="8963199" y="3549045"/>
                <a:ext cx="2373283" cy="72058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5E2927-8D6C-0591-0834-9B9330EB8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199" y="3549045"/>
                <a:ext cx="2373283" cy="7205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51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152E-19BE-8AA8-71EC-6D861F96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3:DYNAMIC ROUTING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B676CD-D9BC-4A2C-65E3-94D7C306CE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IN" b="1" dirty="0"/>
                  <a:t>Select best layer for token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The router then </a:t>
                </a:r>
                <a:r>
                  <a:rPr lang="en-IN" b="1" dirty="0"/>
                  <a:t>selects</a:t>
                </a:r>
                <a:r>
                  <a:rPr lang="en-IN" dirty="0"/>
                  <a:t> or </a:t>
                </a:r>
                <a:r>
                  <a:rPr lang="en-IN" b="1" dirty="0"/>
                  <a:t>weights</a:t>
                </a:r>
                <a:r>
                  <a:rPr lang="en-IN" dirty="0"/>
                  <a:t> the activations accordingly: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IN" dirty="0"/>
                  <a:t>This routed activation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1800" i="1"/>
                          <m:t>route</m:t>
                        </m:r>
                      </m:sub>
                    </m:sSub>
                  </m:oMath>
                </a14:m>
                <a:r>
                  <a:rPr lang="en-IN" dirty="0"/>
                  <a:t> is what the </a:t>
                </a:r>
                <a:r>
                  <a:rPr lang="en-IN" b="1" dirty="0"/>
                  <a:t>shared Sparse Autoencoder (SAE)</a:t>
                </a:r>
                <a:r>
                  <a:rPr lang="en-IN" dirty="0"/>
                  <a:t> uses to extract features.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B676CD-D9BC-4A2C-65E3-94D7C306C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D283E-46D4-865A-E71F-E846527B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44332C-D449-87D6-D311-CB029A93FB0F}"/>
                  </a:ext>
                </a:extLst>
              </p:cNvPr>
              <p:cNvSpPr txBox="1"/>
              <p:nvPr/>
            </p:nvSpPr>
            <p:spPr>
              <a:xfrm>
                <a:off x="3642360" y="3672179"/>
                <a:ext cx="2331720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route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44332C-D449-87D6-D311-CB029A93F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360" y="3672179"/>
                <a:ext cx="233172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18503F-2D8F-7322-69D8-0008027414DE}"/>
                  </a:ext>
                </a:extLst>
              </p:cNvPr>
              <p:cNvSpPr txBox="1"/>
              <p:nvPr/>
            </p:nvSpPr>
            <p:spPr>
              <a:xfrm>
                <a:off x="2233122" y="2471237"/>
                <a:ext cx="5150195" cy="4013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en-IN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18503F-2D8F-7322-69D8-000802741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122" y="2471237"/>
                <a:ext cx="5150195" cy="401392"/>
              </a:xfrm>
              <a:prstGeom prst="rect">
                <a:avLst/>
              </a:prstGeom>
              <a:blipFill>
                <a:blip r:embed="rId4"/>
                <a:stretch>
                  <a:fillRect t="-10294" b="-1176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217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A53C-2976-6D68-D63B-5F1945B2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STEP 4:Shared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TopK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SAE Processes Routed Activation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A2D0-FC89-8112-FB52-45111421719C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bg2"/>
            </a:solidFill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The latent representation </a:t>
            </a:r>
            <a:r>
              <a:rPr lang="en-IN" b="1" dirty="0"/>
              <a:t>z</a:t>
            </a:r>
            <a:r>
              <a:rPr lang="en-IN" dirty="0"/>
              <a:t> and the reconstruction </a:t>
            </a:r>
            <a:r>
              <a:rPr lang="en-IN" b="1" dirty="0"/>
              <a:t>x̂</a:t>
            </a:r>
            <a:r>
              <a:rPr lang="en-IN" dirty="0"/>
              <a:t> are calculated as follows: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ar-AE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Finally, we minimize the reconstruction MSE: 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This objective function jointly trains the router and the shared </a:t>
            </a:r>
            <a:r>
              <a:rPr lang="en-IN" dirty="0" err="1"/>
              <a:t>TopK</a:t>
            </a:r>
            <a:r>
              <a:rPr lang="en-IN" dirty="0"/>
              <a:t> SAE, ensuring efficient and adaptive feature extraction across multiple layers.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E7A2D-9919-987B-5716-6B273078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246B70-E68C-B64A-51C3-40ED4C3AD4B7}"/>
                  </a:ext>
                </a:extLst>
              </p:cNvPr>
              <p:cNvSpPr txBox="1"/>
              <p:nvPr/>
            </p:nvSpPr>
            <p:spPr>
              <a:xfrm>
                <a:off x="3657600" y="2297977"/>
                <a:ext cx="4717773" cy="50687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i="0">
                          <a:latin typeface="Cambria Math" panose="02040503050406030204" pitchFamily="18" charset="0"/>
                        </a:rPr>
                        <m:t>TopK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𝑒𝑛𝑐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𝑟𝑜𝑢𝑡𝑒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𝑝𝑟𝑒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246B70-E68C-B64A-51C3-40ED4C3AD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297977"/>
                <a:ext cx="4717773" cy="5068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7BBE50-3981-D137-05C0-F3916E68AA2D}"/>
                  </a:ext>
                </a:extLst>
              </p:cNvPr>
              <p:cNvSpPr txBox="1"/>
              <p:nvPr/>
            </p:nvSpPr>
            <p:spPr>
              <a:xfrm>
                <a:off x="4267200" y="3038252"/>
                <a:ext cx="3498574" cy="39074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𝑟𝑜𝑢𝑡𝑒</m:t>
                              </m:r>
                            </m:sub>
                          </m:sSub>
                        </m:e>
                      </m:acc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𝑟𝑜𝑢𝑡𝑒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𝑝𝑟𝑒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7BBE50-3981-D137-05C0-F3916E68A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038252"/>
                <a:ext cx="3498574" cy="390748"/>
              </a:xfrm>
              <a:prstGeom prst="rect">
                <a:avLst/>
              </a:prstGeom>
              <a:blipFill>
                <a:blip r:embed="rId4"/>
                <a:stretch>
                  <a:fillRect t="-298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2BBCCC-4464-6C59-004D-6AAD838B43D7}"/>
                  </a:ext>
                </a:extLst>
              </p:cNvPr>
              <p:cNvSpPr txBox="1"/>
              <p:nvPr/>
            </p:nvSpPr>
            <p:spPr>
              <a:xfrm>
                <a:off x="6016486" y="4053154"/>
                <a:ext cx="3372677" cy="37305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=∥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sz="1800" i="1"/>
                            <m:t>route</m:t>
                          </m:r>
                        </m:sub>
                      </m:sSub>
                      <m:r>
                        <a:rPr lang="ar-AE" sz="18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</m:rPr>
                            <a:rPr lang="en-IN" sz="1800" i="1"/>
                            <m:t>route</m:t>
                          </m:r>
                        </m:sub>
                      </m:sSub>
                      <m:sSubSup>
                        <m:sSub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2BBCCC-4464-6C59-004D-6AAD838B4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86" y="4053154"/>
                <a:ext cx="3372677" cy="373051"/>
              </a:xfrm>
              <a:prstGeom prst="rect">
                <a:avLst/>
              </a:prstGeom>
              <a:blipFill>
                <a:blip r:embed="rId5"/>
                <a:stretch>
                  <a:fillRect t="-3175" b="-476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292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48D36-D7FE-3EC7-00C1-47BAA33A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/>
                </a:solidFill>
              </a:rPr>
              <a:t>Main Advantages of </a:t>
            </a:r>
            <a:r>
              <a:rPr lang="en-IN" b="1" dirty="0" err="1">
                <a:solidFill>
                  <a:schemeClr val="accent1"/>
                </a:solidFill>
              </a:rPr>
              <a:t>RouteSAE</a:t>
            </a:r>
            <a:br>
              <a:rPr lang="en-IN" b="1" dirty="0">
                <a:solidFill>
                  <a:schemeClr val="accent1"/>
                </a:solidFill>
              </a:rPr>
            </a:b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F35CE-58E0-30FE-D788-7D04F6928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845734"/>
            <a:ext cx="10424160" cy="41131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Single Shared </a:t>
            </a:r>
            <a:r>
              <a:rPr lang="en-US" b="1" dirty="0" err="1"/>
              <a:t>TopK</a:t>
            </a:r>
            <a:r>
              <a:rPr lang="en-US" b="1" dirty="0"/>
              <a:t> SAE for all layers</a:t>
            </a:r>
            <a:br>
              <a:rPr lang="en-US" dirty="0"/>
            </a:br>
            <a:r>
              <a:rPr lang="en-US" dirty="0"/>
              <a:t>Far more efficient than training separate SAEs for every layer.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Creates a Unified Feature Space</a:t>
            </a:r>
            <a:br>
              <a:rPr lang="en-US" dirty="0"/>
            </a:br>
            <a:r>
              <a:rPr lang="en-US" dirty="0"/>
              <a:t>Same feature neuron represents the </a:t>
            </a:r>
            <a:r>
              <a:rPr lang="en-US" b="1" dirty="0"/>
              <a:t>same concept across layers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Router selects the correct layer’s activation</a:t>
            </a:r>
            <a:br>
              <a:rPr lang="en-US" dirty="0"/>
            </a:br>
            <a:r>
              <a:rPr lang="en-US" dirty="0"/>
              <a:t>Routes the most relevant layer into the shared feature dictionary.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Improves interpretability and consistency</a:t>
            </a:r>
            <a:br>
              <a:rPr lang="en-US" dirty="0"/>
            </a:br>
            <a:r>
              <a:rPr lang="en-US" dirty="0"/>
              <a:t>Features align across the whole model.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Enables multi-layer feature extraction with minimal parameters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Allows precise causal experiments</a:t>
            </a:r>
            <a:br>
              <a:rPr lang="en-US" dirty="0"/>
            </a:br>
            <a:r>
              <a:rPr lang="en-US" dirty="0"/>
              <a:t>(e.g., modify or disable specific features at any layer).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0629-E36C-3206-7FEE-A2FA9566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080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457C9-DD07-5560-0641-EBF885CE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and Dataset details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13086-72B1-A1AE-51E2-6E7ACA71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17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E4D22-C34F-A299-4BC0-38A2DB214B1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10058400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LLM used</a:t>
            </a:r>
            <a:r>
              <a:rPr lang="en-US" sz="2200" dirty="0"/>
              <a:t>:</a:t>
            </a:r>
            <a:r>
              <a:rPr lang="en-IN" sz="2400" dirty="0"/>
              <a:t>Llama-3.2-1B-Instruct.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Number of layers </a:t>
            </a:r>
            <a:r>
              <a:rPr lang="en-IN" sz="2400" dirty="0"/>
              <a:t>:16</a:t>
            </a:r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Input data</a:t>
            </a:r>
            <a:r>
              <a:rPr lang="en-US" sz="2200" dirty="0"/>
              <a:t>: </a:t>
            </a:r>
            <a:r>
              <a:rPr lang="en-US" sz="2400" dirty="0"/>
              <a:t>Input Data: Residual stream activations from middle layers [3 through 11] </a:t>
            </a:r>
            <a:endParaRPr lang="en-US" sz="2200" dirty="0"/>
          </a:p>
          <a:p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Dataset used</a:t>
            </a:r>
            <a:r>
              <a:rPr lang="en-US" sz="2200" dirty="0"/>
              <a:t>:</a:t>
            </a:r>
            <a:r>
              <a:rPr lang="nl-NL" sz="2400" dirty="0"/>
              <a:t>OpenWebText2 (Gao et al., 2020)</a:t>
            </a:r>
          </a:p>
          <a:p>
            <a:r>
              <a:rPr lang="nl-NL" sz="2400" dirty="0">
                <a:sym typeface="Wingdings" panose="05000000000000000000" pitchFamily="2" charset="2"/>
              </a:rPr>
              <a:t>made use of 20000 documents for train,2000 for apply and 2000 for eval</a:t>
            </a:r>
            <a:endParaRPr lang="nl-NL" sz="2400" dirty="0"/>
          </a:p>
          <a:p>
            <a:endParaRPr lang="en-US" sz="2200" dirty="0"/>
          </a:p>
          <a:p>
            <a:r>
              <a:rPr lang="en-US" sz="2200" dirty="0"/>
              <a:t>Gpt-4o to assign interpretation scores and give explanations for a feature using a prompt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911583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1CD6-44E4-62B3-C06C-E4D1F9E3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9C44-E11A-EE7A-0911-DEB26EC0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F2F62E7-FA49-2DAC-A047-07031380F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673471"/>
              </p:ext>
            </p:extLst>
          </p:nvPr>
        </p:nvGraphicFramePr>
        <p:xfrm>
          <a:off x="1981199" y="3305175"/>
          <a:ext cx="8677276" cy="234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319">
                  <a:extLst>
                    <a:ext uri="{9D8B030D-6E8A-4147-A177-3AD203B41FA5}">
                      <a16:colId xmlns:a16="http://schemas.microsoft.com/office/drawing/2014/main" val="4291180157"/>
                    </a:ext>
                  </a:extLst>
                </a:gridCol>
                <a:gridCol w="2169319">
                  <a:extLst>
                    <a:ext uri="{9D8B030D-6E8A-4147-A177-3AD203B41FA5}">
                      <a16:colId xmlns:a16="http://schemas.microsoft.com/office/drawing/2014/main" val="3159151585"/>
                    </a:ext>
                  </a:extLst>
                </a:gridCol>
                <a:gridCol w="2169319">
                  <a:extLst>
                    <a:ext uri="{9D8B030D-6E8A-4147-A177-3AD203B41FA5}">
                      <a16:colId xmlns:a16="http://schemas.microsoft.com/office/drawing/2014/main" val="419434755"/>
                    </a:ext>
                  </a:extLst>
                </a:gridCol>
                <a:gridCol w="2169319">
                  <a:extLst>
                    <a:ext uri="{9D8B030D-6E8A-4147-A177-3AD203B41FA5}">
                      <a16:colId xmlns:a16="http://schemas.microsoft.com/office/drawing/2014/main" val="3436226133"/>
                    </a:ext>
                  </a:extLst>
                </a:gridCol>
              </a:tblGrid>
              <a:tr h="4296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Hyperparameter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RouteSAE</a:t>
                      </a: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(Multi-layer)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Vanilla (Single-layer)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TopK</a:t>
                      </a: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(Single-layer)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81463664"/>
                  </a:ext>
                </a:extLst>
              </a:tr>
              <a:tr h="4296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Layer(s) Targeted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 Layers</a:t>
                      </a: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(Multi-Layer)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Layer 12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Layer 12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72216287"/>
                  </a:ext>
                </a:extLst>
              </a:tr>
              <a:tr h="4296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Sparsity Parameter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k=64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lambda=18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k=64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34484455"/>
                  </a:ext>
                </a:extLst>
              </a:tr>
              <a:tr h="4296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Learning Rate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5e-4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5e-4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5e-4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271945031"/>
                  </a:ext>
                </a:extLst>
              </a:tr>
              <a:tr h="4296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Batch Size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4933463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502A-0319-BF50-52B9-C2AA37EB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1731A0BE-E27F-96FD-A98A-3A6CA27134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6900" y="2087061"/>
                <a:ext cx="10591800" cy="1154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Model Dimensions: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</a:t>
                </a:r>
              </a:p>
              <a:p>
                <a:pPr marL="742950" lvl="1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Hidden Size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= 2048</a:t>
                </a:r>
              </a:p>
              <a:p>
                <a:pPr marL="742950" lvl="1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Latent Size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0" lang="en-US" altLang="en-US" b="0" i="1" u="none" strike="noStrike" cap="none" normalizeH="0" baseline="0" dirty="0" err="1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𝑠𝑎𝑒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= 16384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Context Window: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oogle Sans Text"/>
                  </a:rPr>
                  <a:t> Max Sequence Length = 512 tokens</a:t>
                </a:r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1731A0BE-E27F-96FD-A98A-3A6CA2713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6900" y="2087061"/>
                <a:ext cx="10591800" cy="1154162"/>
              </a:xfrm>
              <a:prstGeom prst="rect">
                <a:avLst/>
              </a:prstGeom>
              <a:blipFill>
                <a:blip r:embed="rId2"/>
                <a:stretch>
                  <a:fillRect l="-460" t="-6316" b="-78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37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836E-8D39-BF00-FF97-E23911FB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Evaluation Metrics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496CD-C023-3B59-F092-48926972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KL Divergence: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This measures how much the model's output distribution changes when its original activations are replaced by the SAE's reconstructed ones. A lower value is better.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indicates that the features extracted by </a:t>
            </a:r>
            <a:r>
              <a:rPr lang="en-US" dirty="0" err="1"/>
              <a:t>RouteSAE</a:t>
            </a:r>
            <a:r>
              <a:rPr lang="en-US" dirty="0"/>
              <a:t> are highly relevant for the language modeling task. The model can 'use' the reconstructed features from </a:t>
            </a:r>
            <a:r>
              <a:rPr lang="en-US" dirty="0" err="1"/>
              <a:t>RouteSAE</a:t>
            </a:r>
            <a:r>
              <a:rPr lang="en-US" dirty="0"/>
              <a:t> almost as effectively as its original activations.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Interpretation Score: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measures how understandable and semantically meaningful the discovered features are when evaluated by a language model.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higher value means the SAE is capturing clear, human-interpretable concepts rather than noisy or mixed patterns.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Norm MSE (Normalized Mean Squared Error):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measures how accurately the SAE can reconstruct the model’s original activations.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lower value means the SAE preserves more of the model’s information, ensuring the extracted features remain faithful to the underlying representation.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D046C-90A1-5519-3871-569F90FB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318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434F-E4DA-18D9-95CC-B423517C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Results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6818C90-4249-08D3-214A-21363A085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5133465"/>
              </p:ext>
            </p:extLst>
          </p:nvPr>
        </p:nvGraphicFramePr>
        <p:xfrm>
          <a:off x="907026" y="2624235"/>
          <a:ext cx="10377948" cy="262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487">
                  <a:extLst>
                    <a:ext uri="{9D8B030D-6E8A-4147-A177-3AD203B41FA5}">
                      <a16:colId xmlns:a16="http://schemas.microsoft.com/office/drawing/2014/main" val="1112702493"/>
                    </a:ext>
                  </a:extLst>
                </a:gridCol>
                <a:gridCol w="2594487">
                  <a:extLst>
                    <a:ext uri="{9D8B030D-6E8A-4147-A177-3AD203B41FA5}">
                      <a16:colId xmlns:a16="http://schemas.microsoft.com/office/drawing/2014/main" val="1008794876"/>
                    </a:ext>
                  </a:extLst>
                </a:gridCol>
                <a:gridCol w="2594487">
                  <a:extLst>
                    <a:ext uri="{9D8B030D-6E8A-4147-A177-3AD203B41FA5}">
                      <a16:colId xmlns:a16="http://schemas.microsoft.com/office/drawing/2014/main" val="1705141464"/>
                    </a:ext>
                  </a:extLst>
                </a:gridCol>
                <a:gridCol w="2594487">
                  <a:extLst>
                    <a:ext uri="{9D8B030D-6E8A-4147-A177-3AD203B41FA5}">
                      <a16:colId xmlns:a16="http://schemas.microsoft.com/office/drawing/2014/main" val="3779954067"/>
                    </a:ext>
                  </a:extLst>
                </a:gridCol>
              </a:tblGrid>
              <a:tr h="6554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Model Name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Norm MSE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KL Divergence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Interpretation Score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177754"/>
                  </a:ext>
                </a:extLst>
              </a:tr>
              <a:tr h="655409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Vanilla SAE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4.16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054610"/>
                  </a:ext>
                </a:extLst>
              </a:tr>
              <a:tr h="655409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Topk</a:t>
                      </a:r>
                      <a:r>
                        <a:rPr lang="en-US" b="0" dirty="0"/>
                        <a:t> SAE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0.134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474646"/>
                  </a:ext>
                </a:extLst>
              </a:tr>
              <a:tr h="6554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Route SAE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4.38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3507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BDAAF-7673-0464-57DA-728EAA1D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687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09AC-6A2F-9A53-C9B1-4FD7CFE0F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Summary and Key Insights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2C778-059B-DF80-1642-90FD4B71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21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04F446D-70FE-2D99-E7D2-6250C16168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30849"/>
            <a:ext cx="949368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RouteSAE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achieves the lowest KL divergence (90)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meaning it best matches the true activation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SAE achieves the lowest reconstruction error (Norm MSE = 0.134)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all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Vanilla SAE performs the weakest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both metrics: highest KL divergence and highest MSE.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RouteSAE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highest interpretation score (4.38)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it produces the most interpretable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RouteSAE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offers the best balance of reconstruction quality and interpretability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Vanilla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SAEs.</a:t>
            </a:r>
          </a:p>
        </p:txBody>
      </p:sp>
    </p:spTree>
    <p:extLst>
      <p:ext uri="{BB962C8B-B14F-4D97-AF65-F5344CB8AC3E}">
        <p14:creationId xmlns:p14="http://schemas.microsoft.com/office/powerpoint/2010/main" val="1531426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C07F-7443-E832-84CB-28E57F8C4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83B-65E3-77D9-75EF-592D752B8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err="1"/>
              <a:t>RouteSAE</a:t>
            </a:r>
            <a:r>
              <a:rPr lang="en-US" b="1" dirty="0"/>
              <a:t> overcomes the limitations of traditional SAEs</a:t>
            </a:r>
            <a:r>
              <a:rPr lang="en-US" dirty="0"/>
              <a:t> by looking across multiple layers instead of just one, capturing a wider range of important features.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Its dynamic routing mechanism intelligently selects the layer with the most useful information</a:t>
            </a:r>
            <a:r>
              <a:rPr lang="en-US" dirty="0"/>
              <a:t>, sending it to a single shared SAE for efficient feature extraction.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This design is far more scalable and lightweight</a:t>
            </a:r>
            <a:r>
              <a:rPr lang="en-US" dirty="0"/>
              <a:t> than training separate SAEs for every layer, making it practical for real-world LLM interpretability.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err="1"/>
              <a:t>RouteSAE</a:t>
            </a:r>
            <a:r>
              <a:rPr lang="en-US" b="1" dirty="0"/>
              <a:t> produces a unified dictionary of high-quality, human-interpretable features</a:t>
            </a:r>
            <a:r>
              <a:rPr lang="en-US" dirty="0"/>
              <a:t>, giving researchers a clearer view of how the model thinks internally.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Experiments show strong reconstruction accuracy and high interpretability</a:t>
            </a:r>
            <a:r>
              <a:rPr lang="en-US" dirty="0"/>
              <a:t>, making </a:t>
            </a:r>
            <a:r>
              <a:rPr lang="en-US" dirty="0" err="1"/>
              <a:t>RouteSAE</a:t>
            </a:r>
            <a:r>
              <a:rPr lang="en-US" dirty="0"/>
              <a:t> a powerful tool for safer, more transparent, and more controllable LLMs.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C9831-AE70-3634-0549-21638943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14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3713A-75E0-AAE3-0DA9-08E497DD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C4EA-28F9-3027-CDF4-24258EF24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5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24A691-8FC2-AC6F-35A5-D1AF3A311F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1969" y="2642251"/>
            <a:ext cx="84640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Bricken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Sparse Autoencoders Find Highly Interpretable Features in Language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Anthropic,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Gao et al.,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Sparse Autoencoder to Interpret Large Language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arXiv:2503.08200, 2025.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E98D4-00DA-0C40-CD4E-A1D60B44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997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FC5F-9D76-2C20-99C0-6F3FD7C45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500" dirty="0">
                <a:solidFill>
                  <a:schemeClr val="accent1"/>
                </a:solidFill>
              </a:rPr>
              <a:t> THANK YOU</a:t>
            </a:r>
            <a:endParaRPr lang="en-IN" sz="7500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048F3-FB3A-1581-99EF-9825DD09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D89ED-A36A-4F48-AEDF-BC970FA37EDB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1441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3895</TotalTime>
  <Words>1889</Words>
  <Application>Microsoft Office PowerPoint</Application>
  <PresentationFormat>Widescreen</PresentationFormat>
  <Paragraphs>236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Algerian</vt:lpstr>
      <vt:lpstr>Arial</vt:lpstr>
      <vt:lpstr>Calibri</vt:lpstr>
      <vt:lpstr>Calibri Light</vt:lpstr>
      <vt:lpstr>Cambria Math</vt:lpstr>
      <vt:lpstr>Google Sans Text</vt:lpstr>
      <vt:lpstr>Times New Roman</vt:lpstr>
      <vt:lpstr>Wingdings</vt:lpstr>
      <vt:lpstr>Retrospect</vt:lpstr>
      <vt:lpstr>Interpretability of LLm’s using  Route Sparse Autoencoders</vt:lpstr>
      <vt:lpstr>                        Abstract</vt:lpstr>
      <vt:lpstr>Problem Statement</vt:lpstr>
      <vt:lpstr>Objective</vt:lpstr>
      <vt:lpstr> What is a Sparse Autoencoder   (SAE)? </vt:lpstr>
      <vt:lpstr>Working of Vanilla SAE</vt:lpstr>
      <vt:lpstr>Model Architecture of Vanilla SAE</vt:lpstr>
      <vt:lpstr>Topk SAE</vt:lpstr>
      <vt:lpstr>Why RouteSAE? The Limitation of Single-Layer SAE</vt:lpstr>
      <vt:lpstr>Introduction to Route Sparse Autoencoder</vt:lpstr>
      <vt:lpstr>MODEL ARCHITECTURE OF ROUTE SAE</vt:lpstr>
      <vt:lpstr>Step 1: Router Collects Information (Sum-Pooling)</vt:lpstr>
      <vt:lpstr>Step 2: Router Finds the Most Important Layer</vt:lpstr>
      <vt:lpstr>STEP 3:DYNAMIC ROUTING</vt:lpstr>
      <vt:lpstr>STEP 4:Shared TopK SAE Processes Routed Activation</vt:lpstr>
      <vt:lpstr>Main Advantages of RouteSAE </vt:lpstr>
      <vt:lpstr>Model and Dataset details</vt:lpstr>
      <vt:lpstr>Hyperparameters</vt:lpstr>
      <vt:lpstr>Evaluation Metrics</vt:lpstr>
      <vt:lpstr>Results</vt:lpstr>
      <vt:lpstr>Summary and Key Insights</vt:lpstr>
      <vt:lpstr>Conclusion</vt:lpstr>
      <vt:lpstr>References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SPANDANA HELITAM</dc:creator>
  <cp:lastModifiedBy>Pavitra Subhasri Chappidi</cp:lastModifiedBy>
  <cp:revision>77</cp:revision>
  <dcterms:created xsi:type="dcterms:W3CDTF">2025-03-11T14:26:53Z</dcterms:created>
  <dcterms:modified xsi:type="dcterms:W3CDTF">2025-12-04T12:29:51Z</dcterms:modified>
</cp:coreProperties>
</file>